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[0:00-0:15]</a:t>
            </a:r>
          </a:p>
          <a:p/>
          <a:p>
            <a:r>
              <a:t>Good morning. My name is Thanh Dat Phan.</a:t>
            </a:r>
          </a:p>
          <a:p>
            <a:r>
              <a:t>My project is called DataExodus.</a:t>
            </a:r>
          </a:p>
          <a:p>
            <a:r>
              <a:t>It answers one question.</a:t>
            </a:r>
          </a:p>
          <a:p>
            <a:r>
              <a:t>When you open a normal website - where does your data go?</a:t>
            </a:r>
          </a:p>
          <a:p/>
          <a:p>
            <a:r>
              <a:t>[Delivery] Ask the question, then stop. Look at the audience, not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[0:15-1:25]</a:t>
            </a:r>
          </a:p>
          <a:p/>
          <a:p>
            <a:r>
              <a:t>Here is the problem.</a:t>
            </a:r>
          </a:p>
          <a:p>
            <a:r>
              <a:t>A tracker does not send your email address.</a:t>
            </a:r>
          </a:p>
          <a:p>
            <a:r>
              <a:t>It sends a hash of it. This number here.</a:t>
            </a:r>
          </a:p>
          <a:p>
            <a:r>
              <a:t>And the company calls that anonymous.</a:t>
            </a:r>
          </a:p>
          <a:p>
            <a:r>
              <a:t>It is not anonymous.</a:t>
            </a:r>
          </a:p>
          <a:p>
            <a:r>
              <a:t>Here is why.</a:t>
            </a:r>
          </a:p>
          <a:p>
            <a:r>
              <a:t>The same email always makes the same hash. Always.</a:t>
            </a:r>
          </a:p>
          <a:p>
            <a:r>
              <a:t>So this number is still your name. You just cannot read it.</a:t>
            </a:r>
          </a:p>
          <a:p>
            <a:r>
              <a:t>Every website that receives this number sees the same person.</a:t>
            </a:r>
          </a:p>
          <a:p>
            <a:r>
              <a:t>The US Federal Trade Commission said this in 2024.</a:t>
            </a:r>
          </a:p>
          <a:p>
            <a:r>
              <a:t>My project does not only explain this.</a:t>
            </a:r>
          </a:p>
          <a:p>
            <a:r>
              <a:t>It proves it, on your own traffic.</a:t>
            </a:r>
          </a:p>
          <a:p/>
          <a:p>
            <a:r>
              <a:t>[Delivery] Say 'It is not anonymous' slowly, then pause two seconds. anonymous = uh-NON-uh-muss.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[1:25-2:25]</a:t>
            </a:r>
          </a:p>
          <a:p/>
          <a:p>
            <a:r>
              <a:t>Why does this matter here in Australia?</a:t>
            </a:r>
          </a:p>
          <a:p>
            <a:r>
              <a:t>We have a law. The Privacy Act. Principle 8.</a:t>
            </a:r>
          </a:p>
          <a:p>
            <a:r>
              <a:t>If a company sends your data overseas, it has duties.</a:t>
            </a:r>
          </a:p>
          <a:p>
            <a:r>
              <a:t>The ACCC studied this problem.</a:t>
            </a:r>
          </a:p>
          <a:p>
            <a:r>
              <a:t>They found that people cannot see who receives their data.</a:t>
            </a:r>
          </a:p>
          <a:p>
            <a:r>
              <a:t>So we have a law about it.</a:t>
            </a:r>
          </a:p>
          <a:p>
            <a:r>
              <a:t>But a normal person cannot check it.</a:t>
            </a:r>
          </a:p>
          <a:p>
            <a:r>
              <a:t>That gap is what I am building for.</a:t>
            </a:r>
          </a:p>
          <a:p>
            <a:r>
              <a:t>This is my own project. I have no client.</a:t>
            </a:r>
          </a:p>
          <a:p/>
          <a:p>
            <a:r>
              <a:t>[Delivery] Slow down on 'Principle 8'. Let the contrast land: there is a law, but no way to check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[2:25-3:25]</a:t>
            </a:r>
          </a:p>
          <a:p/>
          <a:p>
            <a:r>
              <a:t>I am building two things. You can install both.</a:t>
            </a:r>
          </a:p>
          <a:p>
            <a:r>
              <a:t>First, a Chrome extension.</a:t>
            </a:r>
          </a:p>
          <a:p>
            <a:r>
              <a:t>It watches every request your browser makes.</a:t>
            </a:r>
          </a:p>
          <a:p>
            <a:r>
              <a:t>It names the company. It scores the risk.</a:t>
            </a:r>
          </a:p>
          <a:p>
            <a:r>
              <a:t>And it watches for your identifier leaving.</a:t>
            </a:r>
          </a:p>
          <a:p>
            <a:r>
              <a:t>Second, a Raspberry Pi application.</a:t>
            </a:r>
          </a:p>
          <a:p>
            <a:r>
              <a:t>It adds the country. It keeps the history.</a:t>
            </a:r>
          </a:p>
          <a:p>
            <a:r>
              <a:t>And it blocks trackers using DNS.</a:t>
            </a:r>
          </a:p>
          <a:p>
            <a:r>
              <a:t>DNS covers every device. Your phone. Your television.</a:t>
            </a:r>
          </a:p>
          <a:p>
            <a:r>
              <a:t>Those can never run an extension.</a:t>
            </a:r>
          </a:p>
          <a:p>
            <a:r>
              <a:t>One sentence to remember.</a:t>
            </a:r>
          </a:p>
          <a:p>
            <a:r>
              <a:t>The extension shows you the problem. The Pi does something about it.</a:t>
            </a:r>
          </a:p>
          <a:p/>
          <a:p>
            <a:r>
              <a:t>[Delivery] Point left for the extension, right for the Pi. Say the last two sentences slowly - this is the line they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[3:25-4:40]</a:t>
            </a:r>
          </a:p>
          <a:p/>
          <a:p>
            <a:r>
              <a:t>This is the whole system on one slide.</a:t>
            </a:r>
          </a:p>
          <a:p>
            <a:r>
              <a:t>On the left is your home.</a:t>
            </a:r>
          </a:p>
          <a:p>
            <a:r>
              <a:t>The laptop runs the extension. The phone and the TV cannot.</a:t>
            </a:r>
          </a:p>
          <a:p>
            <a:r>
              <a:t>In the middle is the Raspberry Pi.</a:t>
            </a:r>
          </a:p>
          <a:p>
            <a:r>
              <a:t>At the top, the DNS sinkhole. It answers tracker questions with zero.</a:t>
            </a:r>
          </a:p>
          <a:p>
            <a:r>
              <a:t>Below that, the app. It receives the data and stores it.</a:t>
            </a:r>
          </a:p>
          <a:p>
            <a:r>
              <a:t>At the bottom, the dashboard.</a:t>
            </a:r>
          </a:p>
          <a:p>
            <a:r>
              <a:t>Now look at the orange bar.</a:t>
            </a:r>
          </a:p>
          <a:p>
            <a:r>
              <a:t>This is the privacy boundary.</a:t>
            </a:r>
          </a:p>
          <a:p>
            <a:r>
              <a:t>Your real email never crosses it. Full web addresses never cross it.</a:t>
            </a:r>
          </a:p>
          <a:p>
            <a:r>
              <a:t>Only hashes are compared. Only host names are sent.</a:t>
            </a:r>
          </a:p>
          <a:p>
            <a:r>
              <a:t>A web address contains your search words.</a:t>
            </a:r>
          </a:p>
          <a:p>
            <a:r>
              <a:t>This is a privacy tool. So I do not send it.</a:t>
            </a:r>
          </a:p>
          <a:p/>
          <a:p>
            <a:r>
              <a:t>[Delivery] Move your hand across the diagram, left to right. Then turn back and face the audience for the orange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[4:40-5:40]</a:t>
            </a:r>
          </a:p>
          <a:p/>
          <a:p>
            <a:r>
              <a:t>Seven requirements on the left. What the system must do.</a:t>
            </a:r>
          </a:p>
          <a:p>
            <a:r>
              <a:t>Seven decisions on the right. How I do it.</a:t>
            </a:r>
          </a:p>
          <a:p>
            <a:r>
              <a:t>I will explain two of them.</a:t>
            </a:r>
          </a:p>
          <a:p>
            <a:r>
              <a:t>Number four. Hidden sharing, versus your own choice.</a:t>
            </a:r>
          </a:p>
          <a:p>
            <a:r>
              <a:t>You type your email into a search box. That is your choice. That is fine.</a:t>
            </a:r>
          </a:p>
          <a:p>
            <a:r>
              <a:t>The site sends your email hash to Facebook. That is not fine.</a:t>
            </a:r>
          </a:p>
          <a:p>
            <a:r>
              <a:t>At first my code treated both the same.</a:t>
            </a:r>
          </a:p>
          <a:p>
            <a:r>
              <a:t>Then everything looked like a leak.</a:t>
            </a:r>
          </a:p>
          <a:p>
            <a:r>
              <a:t>Now, normalisation.</a:t>
            </a:r>
          </a:p>
          <a:p>
            <a:r>
              <a:t>A tracker does not hash what you typed.</a:t>
            </a:r>
          </a:p>
          <a:p>
            <a:r>
              <a:t>It cleans the value first, then hashes it.</a:t>
            </a:r>
          </a:p>
          <a:p>
            <a:r>
              <a:t>I will show you why that matters.</a:t>
            </a:r>
          </a:p>
          <a:p/>
          <a:p>
            <a:r>
              <a:t>[Delivery] normalisation = nor-muh-lie-ZAY-shun. End with 'I will show you why' - it sets up slide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[5:40-6:25]</a:t>
            </a:r>
          </a:p>
          <a:p/>
          <a:p>
            <a:r>
              <a:t>Six goals. Each one has a number and a date.</a:t>
            </a:r>
          </a:p>
          <a:p>
            <a:r>
              <a:t>Together they cover every requirement.</a:t>
            </a:r>
          </a:p>
          <a:p>
            <a:r>
              <a:t>Look at goal four. Zero false positives.</a:t>
            </a:r>
          </a:p>
          <a:p>
            <a:r>
              <a:t>Not 'a few'. Zero.</a:t>
            </a:r>
          </a:p>
          <a:p>
            <a:r>
              <a:t>Because at the DNS layer, a mistake is not small.</a:t>
            </a:r>
          </a:p>
          <a:p>
            <a:r>
              <a:t>It removes a website for the whole house.</a:t>
            </a:r>
          </a:p>
          <a:p>
            <a:r>
              <a:t>And goal six says 'significant or not'.</a:t>
            </a:r>
          </a:p>
          <a:p>
            <a:r>
              <a:t>If I find nothing, I report nothing.</a:t>
            </a:r>
          </a:p>
          <a:p>
            <a:r>
              <a:t>This is a measurement. It is not an argument.</a:t>
            </a:r>
          </a:p>
          <a:p/>
          <a:p>
            <a:r>
              <a:t>[Delivery] Do not read all six goals. Name the number, then talk about goal four and goal six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[6:25-7:40]</a:t>
            </a:r>
          </a:p>
          <a:p/>
          <a:p>
            <a:r>
              <a:t>I build in layers. Each layer works on its own.</a:t>
            </a:r>
          </a:p>
          <a:p>
            <a:r>
              <a:t>Layer one, the extension. Layer two, the Pi.</a:t>
            </a:r>
          </a:p>
          <a:p>
            <a:r>
              <a:t>Layer three, blocking. Layer four, the study.</a:t>
            </a:r>
          </a:p>
          <a:p>
            <a:r>
              <a:t>Why not waterfall?</a:t>
            </a:r>
          </a:p>
          <a:p>
            <a:r>
              <a:t>My hardest questions are technical, and they come early.</a:t>
            </a:r>
          </a:p>
          <a:p>
            <a:r>
              <a:t>Waterfall would find them at the end. Too late to fix.</a:t>
            </a:r>
          </a:p>
          <a:p>
            <a:r>
              <a:t>Why not Scrum?</a:t>
            </a:r>
          </a:p>
          <a:p>
            <a:r>
              <a:t>Scrum meetings organise a team. I am one person.</a:t>
            </a:r>
          </a:p>
          <a:p>
            <a:r>
              <a:t>I kept the short steps. I dropped the meetings.</a:t>
            </a:r>
          </a:p>
          <a:p>
            <a:r>
              <a:t>And here is proof this was the right choice.</a:t>
            </a:r>
          </a:p>
          <a:p>
            <a:r>
              <a:t>My blocking code marked Wikipedia as a tracker. GitHub too.</a:t>
            </a:r>
          </a:p>
          <a:p>
            <a:r>
              <a:t>Why? A filter rule that blocks one page</a:t>
            </a:r>
          </a:p>
          <a:p>
            <a:r>
              <a:t>was read as blocking the whole website.</a:t>
            </a:r>
          </a:p>
          <a:p>
            <a:r>
              <a:t>At the DNS layer, that removes Wikipedia.</a:t>
            </a:r>
          </a:p>
          <a:p>
            <a:r>
              <a:t>For every device in the house.</a:t>
            </a:r>
          </a:p>
          <a:p>
            <a:r>
              <a:t>I found it because I tested that layer alone, before connecting it.</a:t>
            </a:r>
          </a:p>
          <a:p/>
          <a:p>
            <a:r>
              <a:t>[Delivery] This is your strongest story. Tell it fully. Pause before 'And here is proof'.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[7:40-8:25]</a:t>
            </a:r>
          </a:p>
          <a:p/>
          <a:p>
            <a:r>
              <a:t>Now the tools. Quickly - the plan explains each one.</a:t>
            </a:r>
          </a:p>
          <a:p>
            <a:r>
              <a:t>I want to name two.</a:t>
            </a:r>
          </a:p>
          <a:p>
            <a:r>
              <a:t>DuckDB. My questions are like this:</a:t>
            </a:r>
          </a:p>
          <a:p>
            <a:r>
              <a:t>which company receives the most requests?</a:t>
            </a:r>
          </a:p>
          <a:p>
            <a:r>
              <a:t>That is what this database is built for. One file. No server.</a:t>
            </a:r>
          </a:p>
          <a:p>
            <a:r>
              <a:t>And dnslib, instead of a configuration file.</a:t>
            </a:r>
          </a:p>
          <a:p>
            <a:r>
              <a:t>I want my blocking logic to be code I can read and test.</a:t>
            </a:r>
          </a:p>
          <a:p>
            <a:r>
              <a:t>On standards: every list I use is public.</a:t>
            </a:r>
          </a:p>
          <a:p>
            <a:r>
              <a:t>So you can check any claim I make.</a:t>
            </a:r>
          </a:p>
          <a:p>
            <a:r>
              <a:t>That is on purpose.</a:t>
            </a:r>
          </a:p>
          <a:p/>
          <a:p>
            <a:r>
              <a:t>[Delivery] Keep this slide fast. It is supporting detail, not the main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[8:25-9:25]</a:t>
            </a:r>
          </a:p>
          <a:p/>
          <a:p>
            <a:r>
              <a:t>This is the most important slide.</a:t>
            </a:r>
          </a:p>
          <a:p>
            <a:r>
              <a:t>None of this is a plan. I have run all of it.</a:t>
            </a:r>
          </a:p>
          <a:p>
            <a:r>
              <a:t>My MD5 code is tested against twelve known answers.</a:t>
            </a:r>
          </a:p>
          <a:p>
            <a:r>
              <a:t>That includes the sizes where hand-written MD5 usually breaks.</a:t>
            </a:r>
          </a:p>
          <a:p>
            <a:r>
              <a:t>Now the best example.</a:t>
            </a:r>
          </a:p>
          <a:p>
            <a:r>
              <a:t>You type your phone number with spaces.</a:t>
            </a:r>
          </a:p>
          <a:p>
            <a:r>
              <a:t>The tracker removes the spaces and adds the country code.</a:t>
            </a:r>
          </a:p>
          <a:p>
            <a:r>
              <a:t>Then it hashes that.</a:t>
            </a:r>
          </a:p>
          <a:p>
            <a:r>
              <a:t>My old code matched nothing. It reported no leak. Silently.</a:t>
            </a:r>
          </a:p>
          <a:p>
            <a:r>
              <a:t>My new code hashes every form.</a:t>
            </a:r>
          </a:p>
          <a:p>
            <a:r>
              <a:t>I have a test that proves the old one missed, and the new one matches.</a:t>
            </a:r>
          </a:p>
          <a:p>
            <a:r>
              <a:t>And zero false positives on blocking.</a:t>
            </a:r>
          </a:p>
          <a:p>
            <a:r>
              <a:t>That is goal four, already met.</a:t>
            </a:r>
          </a:p>
          <a:p/>
          <a:p>
            <a:r>
              <a:t>[Delivery] Pause after 'I have run all of it'. This slide answers 'is this student actually doing the work'.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[9:25-9:55]</a:t>
            </a:r>
          </a:p>
          <a:p/>
          <a:p>
            <a:r>
              <a:t>Week nine and ten: the full crawl of fifty sites.</a:t>
            </a:r>
          </a:p>
          <a:p>
            <a:r>
              <a:t>Week eleven: deployment and false positive testing.</a:t>
            </a:r>
          </a:p>
          <a:p>
            <a:r>
              <a:t>Week twelve and thirteen: dashboard and analysis.</a:t>
            </a:r>
          </a:p>
          <a:p>
            <a:r>
              <a:t>Week fourteen: the final presentation.</a:t>
            </a:r>
          </a:p>
          <a:p>
            <a:r>
              <a:t>Now one honest risk. The third one.</a:t>
            </a:r>
          </a:p>
          <a:p>
            <a:r>
              <a:t>Chrome has a setting called secure DNS.</a:t>
            </a:r>
          </a:p>
          <a:p>
            <a:r>
              <a:t>If someone turns it on, my Pi never sees their questions.</a:t>
            </a:r>
          </a:p>
          <a:p>
            <a:r>
              <a:t>I cannot stop that.</a:t>
            </a:r>
          </a:p>
          <a:p>
            <a:r>
              <a:t>But the extension still sees those requests.</a:t>
            </a:r>
          </a:p>
          <a:p>
            <a:r>
              <a:t>That is exactly why this project has two parts, not one.</a:t>
            </a:r>
          </a:p>
          <a:p/>
          <a:p>
            <a:r>
              <a:t>[Delivery] Do not rush because you are near the end. The risk slide shows you understand your own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[9:55-10:00]</a:t>
            </a:r>
          </a:p>
          <a:p/>
          <a:p>
            <a:r>
              <a:t>So. A hash is not anonymous.</a:t>
            </a:r>
          </a:p>
          <a:p>
            <a:r>
              <a:t>This project proves it on your own traffic. Then it blocks it.</a:t>
            </a:r>
          </a:p>
          <a:p>
            <a:r>
              <a:t>Thank you. I am happy to take questions.</a:t>
            </a:r>
          </a:p>
          <a:p/>
          <a:p>
            <a:r>
              <a:t>[Delivery] Stand still. Do not fill the silence. Wait for the first question.</a:t>
            </a:r>
          </a:p>
          <a:p/>
          <a:p>
            <a:r>
              <a:t>[Likely questions]</a:t>
            </a:r>
          </a:p>
          <a:p>
            <a:r>
              <a:t>Q: Why not just use Pi-hole?</a:t>
            </a:r>
          </a:p>
          <a:p>
            <a:r>
              <a:t>A: Pi-hole blocks. It does not tell you who owns the destination, which country it is in, or whether your identifier went with it.</a:t>
            </a:r>
          </a:p>
          <a:p>
            <a:r>
              <a:t>Q: Is this legal?</a:t>
            </a:r>
          </a:p>
          <a:p>
            <a:r>
              <a:t>A: Public pages only. My own traffic. My own identifier. No logins, no attacks. The same basis as published academic studies.</a:t>
            </a:r>
          </a:p>
          <a:p>
            <a:r>
              <a:t>Q: Why only fifty sites?</a:t>
            </a:r>
          </a:p>
          <a:p>
            <a:r>
              <a:t>A: Because I check every classification by hand. Fifty is a number I can verify. Five thousand is a number I could only claim.</a:t>
            </a:r>
          </a:p>
          <a:p>
            <a:r>
              <a:t>Q: What if you find nothing?</a:t>
            </a:r>
          </a:p>
          <a:p>
            <a:r>
              <a:t>A: Then I report that. It is a measurement, not an argument.</a:t>
            </a:r>
          </a:p>
          <a:p>
            <a:r>
              <a:t>Q: How do you know your blocking is safe?</a:t>
            </a:r>
          </a:p>
          <a:p>
            <a:r>
              <a:t>A: I test it against a fixed list of twelve normal websites before deployment. Zero false positives is the pass condition, and I can roll the DNS setting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DataExodus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727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DD6F5"/>
                </a:solidFill>
                <a:latin typeface="Calibri"/>
              </a:rPr>
              <a:t>Where does your data actually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F3A5F"/>
                </a:solidFill>
                <a:latin typeface="Calibri"/>
              </a:rPr>
              <a:t>Early-Stage Presentation  ·  Project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6B72"/>
                </a:solidFill>
                <a:latin typeface="Calibri"/>
              </a:rPr>
              <a:t>Thanh Dat Phan  ·  [Student ID]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6B72"/>
                </a:solidFill>
                <a:latin typeface="Calibri"/>
              </a:rPr>
              <a:t>[Unit code and name]  ·  Week 8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6B72"/>
                </a:solidFill>
                <a:latin typeface="Calibri"/>
              </a:rPr>
              <a:t>github.com/thanhdat23102005/DataExo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 hash is not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3A5F"/>
                </a:solidFill>
                <a:latin typeface="Calibri"/>
              </a:rPr>
              <a:t>you@example.com   →   973dfe463ec857…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0392B"/>
                </a:solidFill>
                <a:latin typeface="Calibri"/>
              </a:rPr>
              <a:t>Companies call this anonymised. It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The same email always produces the same hash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112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so that value is a stable name for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587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It follows you between unrelated websites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966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any site receiving the same hash recognises the same person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1713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The raw address never crosses the wire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280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which is exactly why the practice looks safe and is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US Federal Trade Commission, 2024: "Hashing is not anonymization"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Why this matters in Australia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APP 8 — Privacy Act 1988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396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organisations disclosing personal information overseas carry obligations; individuals cannot easily check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ACCC Digital Platforms Inquiry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9981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found consumers have little practical visibility of who receives their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Nobody can check their own 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5993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the tooling exists for researchers, not for the person whose data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2A30"/>
                </a:solidFill>
                <a:latin typeface="Calibri"/>
              </a:rPr>
              <a:t>Self-initiated individual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005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no external client; assessor is the approving stakeholder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Two things you can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3987E5"/>
                </a:solidFill>
                <a:latin typeface="Calibri"/>
              </a:rPr>
              <a:t>1 · Chrome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Shows the problem on one machine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• names the company behind every request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• scores the page 0–100 for privacy risk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• hashes your identifier locally and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   watches for it leaving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8A7A"/>
                </a:solidFill>
                <a:latin typeface="Calibri"/>
              </a:rPr>
              <a:t>2 · Raspberry Pi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Acts on it for the whole network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• adds owner and country attribution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• blocks tracker domains by DNS for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   every device, including phones and TVs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• keeps history the browser forgets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97A16"/>
                </a:solidFill>
                <a:latin typeface="Calibri"/>
              </a:rPr>
              <a:t>The extension shows you the problem. The Pi does something about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How the pieces fit</a:t>
            </a:r>
          </a:p>
        </p:txBody>
      </p:sp>
      <p:pic>
        <p:nvPicPr>
          <p:cNvPr id="5" name="Picture 4" descr="architecture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4352" y="1325880"/>
            <a:ext cx="810299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What it has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High-level —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HR-1  Who receives the data, and who owns them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HR-2  Which country, and is it offshore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HR-3  Detect the identifier leaving as a hash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HR-4  Covert third-party vs intentional use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HR-5  Block for every device, not one browser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HR-6  Present it so a non-specialist can act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HR-7  Measure across 50 Australian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Low-level — 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Manifest V3 service worker observes requests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WebCrypto + local MD5, four algorithms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Every normalisation: digits, +61, Gmail dots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Hostnames only — never URLs, never raw values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GeoLite2 lookup on the Pi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dnslib UDP server, upstream 1.1.1.1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Playwright crawler over a frozen site list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SMART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Goals I can be held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G1 · Attribute owner and country for ≥ 90% of destinations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0253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by week 10, verified by manual spot-check against Tracker Radar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5059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G2 · Match a hashed identifier across 4 algorithms and 4 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by week 10, evidenced by a reproducible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95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G3 · Zero misclassification of covert vs intentional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by week 11, across the manual test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6849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G4 · Block ≥ 75,000 domains with zero false positives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793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by week 11, across twelve named Australian and global 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G5 · A non-specialist can read the result unaided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3834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by week 12, validated by a think-aloud walk-through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G6 · Report H1–H4 with stated statistical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972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by week 13, significant or 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Incremental layers,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3A5F"/>
                </a:solidFill>
                <a:latin typeface="Calibri"/>
              </a:rPr>
              <a:t>Each layer is a complete working system on its 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987E5"/>
                </a:solidFill>
                <a:latin typeface="Calibri"/>
              </a:rPr>
              <a:t>L1  Extension alone   →   L2  + Pi collector   →   L3  + network-wide DNS blocking   →   L4  + 50-site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Not waterfall — the riskiest unknowns are technical and 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7705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whether Manifest V3 allows the observation; whether a blocklist breaks real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Not formal Scrum — ceremonies coordinate a team; there is one student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4573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short increments and working software kept; meeting structure dropped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03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A2A30"/>
                </a:solidFill>
                <a:latin typeface="Calibri"/>
              </a:rPr>
              <a:t>It already paid for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1441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wikipedia.org and github.com were classified as trackers — caught before that layer ever reached the network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TOOLS &amp;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Tools chosen for a reason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Manifest V3 — the only platform Chrome accepts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Python + FastAPI — runs comfortably on a Pi 5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DuckDB — analytical queries, single file, no server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dnslib — blocking logic stays readable and testable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Playwright — a real browser, so real trackers fire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2A2A30"/>
                </a:solidFill>
                <a:latin typeface="Calibri"/>
              </a:rPr>
              <a:t>GeoLite2 — free, offline, widely cited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Privacy Act 1988 — APP 8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Manifest V3; least-privilege permissions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Privacy by design — hashing stays client-side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PEP 8, type annotations, semantic versioning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Passive-observation research ethics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   public pages, own traffic, no logins, no evasion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97A16"/>
                </a:solidFill>
                <a:latin typeface="Calibri"/>
              </a:rPr>
              <a:t>Every data source is public — EasyPrivacy, Tracker Radar, GeoLite2 — so any classification I report can be independently audited.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Already built and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2A30"/>
                </a:solidFill>
                <a:latin typeface="Calibri"/>
              </a:rPr>
              <a:t>Extension v3.3 — capture, risk scoring, local hashing, malware blocking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Manifest V3, running in Chrome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2A30"/>
                </a:solidFill>
                <a:latin typeface="Calibri"/>
              </a:rPr>
              <a:t>MD5 implementation verified against 12 test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66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including UTF-8 input and the 55/56/57/64-byte padding boundaries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4553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2A30"/>
                </a:solidFill>
                <a:latin typeface="Calibri"/>
              </a:rPr>
              <a:t>Identifier normalisation fixed a real miss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564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typed as "0412 345 678", matched when a tracker hashes "61412345678" — the old single-form version matched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953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2A30"/>
                </a:solidFill>
                <a:latin typeface="Calibri"/>
              </a:rPr>
              <a:t>DNS sinkhole: zero false positives across twelve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blocked domains answer 0.0.0.0 and :: ; everything else forwarded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4515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2A30"/>
                </a:solidFill>
                <a:latin typeface="Calibri"/>
              </a:rPr>
              <a:t>Telemetry is idempotent — a retried delivery double-counts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tested by replaying the same payload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94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2A30"/>
                </a:solidFill>
                <a:latin typeface="Calibri"/>
              </a:rPr>
              <a:t>Study pipeline: 10 government sites crawled, 543 requests classified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B72"/>
                </a:solidFill>
                <a:latin typeface="Calibri"/>
              </a:rPr>
              <a:t>remaining 40 sites scheduled for weeks 9–10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987E5"/>
                </a:solidFill>
                <a:latin typeface="Calibri"/>
              </a:rPr>
              <a:t>TIMELINE &amp;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What is left, and what could go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3A5F"/>
                </a:solidFill>
                <a:latin typeface="Calibri"/>
              </a:rPr>
              <a:t>Remaining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W9–10   Full 50-site crawl (G1, G2)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W11       Network deployment, false-positive testing (G3, G4)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W12       Dashboard and usability walk-through (G5)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W13       Hypothesis testing and report (G6)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A2A30"/>
                </a:solidFill>
                <a:latin typeface="Calibri"/>
              </a:rPr>
              <a:t>W14       Final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3A5F"/>
                </a:solidFill>
                <a:latin typeface="Calibri"/>
              </a:rPr>
              <a:t>Top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2A2A30"/>
                </a:solidFill>
                <a:latin typeface="Calibri"/>
              </a:rPr>
              <a:t>A false positive takes a site off the air for the house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2A2A30"/>
                </a:solidFill>
                <a:latin typeface="Calibri"/>
              </a:rPr>
              <a:t>   → separate lists for blocking and labelling; allow-test first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2A2A30"/>
                </a:solidFill>
                <a:latin typeface="Calibri"/>
              </a:rPr>
              <a:t>The Pi becomes a single point of DNS failure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2A2A30"/>
                </a:solidFill>
                <a:latin typeface="Calibri"/>
              </a:rPr>
              <a:t>   → documented rollback; blank secondary is a stated trade-off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2A2A30"/>
                </a:solidFill>
                <a:latin typeface="Calibri"/>
              </a:rPr>
              <a:t>Chrome DNS-over-HTTPS bypasses the sinkhole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2A2A30"/>
                </a:solidFill>
                <a:latin typeface="Calibri"/>
              </a:rPr>
              <a:t>   → stated limitation; the extension still sees these requests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A hash is not anonymous.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BDD6F5"/>
                </a:solidFill>
                <a:latin typeface="Calibri"/>
              </a:rPr>
              <a:t>This project proves it on your own traffic — then blocks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90000"/>
              </a:lnSpc>
            </a:pPr>
            <a:r>
              <a:rPr sz="2000" b="0">
                <a:solidFill>
                  <a:srgbClr val="2A2A30"/>
                </a:solidFill>
                <a:latin typeface="Calibri"/>
              </a:rPr>
              <a:t>Extension — shows the problem on one machine</a:t>
            </a:r>
          </a:p>
          <a:p>
            <a:pPr algn="l">
              <a:lnSpc>
                <a:spcPct val="190000"/>
              </a:lnSpc>
            </a:pPr>
            <a:r>
              <a:rPr sz="2000" b="0">
                <a:solidFill>
                  <a:srgbClr val="2A2A30"/>
                </a:solidFill>
                <a:latin typeface="Calibri"/>
              </a:rPr>
              <a:t>Raspberry Pi — acts on it for every device on the network</a:t>
            </a:r>
          </a:p>
          <a:p>
            <a:pPr algn="l">
              <a:lnSpc>
                <a:spcPct val="190000"/>
              </a:lnSpc>
            </a:pPr>
            <a:r>
              <a:rPr sz="2000" b="0">
                <a:solidFill>
                  <a:srgbClr val="2A2A30"/>
                </a:solidFill>
                <a:latin typeface="Calibri"/>
              </a:rPr>
              <a:t>Everything classified from public, auditable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Questions?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github.com/thanhdat23102005/DataExo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