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[0:00-0:15]</a:t>
            </a:r>
          </a:p>
          <a:p>
            <a:r>
              <a:t>Good morning. My project is called DataExodus, and it answers one question:</a:t>
            </a:r>
          </a:p>
          <a:p>
            <a:r>
              <a:t>when you open an ordinary Australian website, where does your data actually go?</a:t>
            </a:r>
          </a:p>
          <a:p>
            <a:r>
              <a:t>Over the next ten minutes I'll cover the problem, what I'm building, how I'm</a:t>
            </a:r>
          </a:p>
          <a:p>
            <a:r>
              <a:t>building it, and what is already working.</a:t>
            </a:r>
          </a:p>
          <a:p>
            <a:r>
              <a:t>Do not read the slide. Say the question, then pause.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[0:15-1:25]</a:t>
            </a:r>
          </a:p>
          <a:p>
            <a:r>
              <a:t>This is the heart of the project. A tracker rarely sends your email address in</a:t>
            </a:r>
          </a:p>
          <a:p>
            <a:r>
              <a:t>plain text - it sends the hash of it, and calls that anonymised.</a:t>
            </a:r>
          </a:p>
          <a:p/>
          <a:p>
            <a:r>
              <a:t>But hashing is deterministic. The same email always produces the same hash. So</a:t>
            </a:r>
          </a:p>
          <a:p>
            <a:r>
              <a:t>that value is still a name for you, it just isn't readable. Any site that</a:t>
            </a:r>
          </a:p>
          <a:p>
            <a:r>
              <a:t>receives it recognises the same person.</a:t>
            </a:r>
          </a:p>
          <a:p/>
          <a:p>
            <a:r>
              <a:t>The FTC said exactly this in 2024. My project doesn't argue the point - it</a:t>
            </a:r>
          </a:p>
          <a:p>
            <a:r>
              <a:t>demonstrates it, on the audience's own traffic.</a:t>
            </a:r>
          </a:p>
          <a:p/>
          <a:p>
            <a:r>
              <a:t>Pause after "It is not." Let it 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[1:25-2:25]</a:t>
            </a:r>
          </a:p>
          <a:p>
            <a:r>
              <a:t>Why Australia specifically. Australian Privacy Principle 8 places obligations on</a:t>
            </a:r>
          </a:p>
          <a:p>
            <a:r>
              <a:t>organisations that send personal information overseas. The ACCC's Digital</a:t>
            </a:r>
          </a:p>
          <a:p>
            <a:r>
              <a:t>Platforms Inquiry found consumers have almost no practical visibility of this.</a:t>
            </a:r>
          </a:p>
          <a:p/>
          <a:p>
            <a:r>
              <a:t>So there is a law about cross-border disclosure, and no way for an ordinary</a:t>
            </a:r>
          </a:p>
          <a:p>
            <a:r>
              <a:t>person to see whether it is happening to them. That gap is what I'm building for.</a:t>
            </a:r>
          </a:p>
          <a:p/>
          <a:p>
            <a:r>
              <a:t>This is my own initiative - there's no external client. The assessor is the</a:t>
            </a:r>
          </a:p>
          <a:p>
            <a:r>
              <a:t>approving stakeholder.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[2:25-3:25]</a:t>
            </a:r>
          </a:p>
          <a:p>
            <a:r>
              <a:t>The project is two things a person actually installs.</a:t>
            </a:r>
          </a:p>
          <a:p/>
          <a:p>
            <a:r>
              <a:t>First, a Chrome extension. It watches every request the browser makes, names the</a:t>
            </a:r>
          </a:p>
          <a:p>
            <a:r>
              <a:t>company behind each destination, scores the page for risk, and detects your own</a:t>
            </a:r>
          </a:p>
          <a:p>
            <a:r>
              <a:t>identifier leaving as a hash.</a:t>
            </a:r>
          </a:p>
          <a:p/>
          <a:p>
            <a:r>
              <a:t>Second, a Raspberry Pi application. It collects what the extension sees, adds</a:t>
            </a:r>
          </a:p>
          <a:p>
            <a:r>
              <a:t>country attribution the browser can't do, and blocks tracker domains by DNS -</a:t>
            </a:r>
          </a:p>
          <a:p>
            <a:r>
              <a:t>which covers every device on the network, including the phone and the TV that</a:t>
            </a:r>
          </a:p>
          <a:p>
            <a:r>
              <a:t>can never run an extension.</a:t>
            </a:r>
          </a:p>
          <a:p/>
          <a:p>
            <a:r>
              <a:t>One line to remember: the extension shows you the problem, the Pi does something</a:t>
            </a:r>
          </a:p>
          <a:p>
            <a:r>
              <a:t>about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[3:25-4:40]</a:t>
            </a:r>
          </a:p>
          <a:p>
            <a:r>
              <a:t>This is the whole system on one slide.</a:t>
            </a:r>
          </a:p>
          <a:p/>
          <a:p>
            <a:r>
              <a:t>On the left, the home network. The laptop runs the extension; the phone and the</a:t>
            </a:r>
          </a:p>
          <a:p>
            <a:r>
              <a:t>TV cannot. In the middle, the Raspberry Pi: the DNS sinkhole at the top answers</a:t>
            </a:r>
          </a:p>
          <a:p>
            <a:r>
              <a:t>tracker queries with 0.0.0.0, the FastAPI app receives telemetry, classify and</a:t>
            </a:r>
          </a:p>
          <a:p>
            <a:r>
              <a:t>store handle attribution and storage, and the dashboard presents it.</a:t>
            </a:r>
          </a:p>
          <a:p/>
          <a:p>
            <a:r>
              <a:t>Point at the orange bar along the bottom. That is the privacy boundary. The raw</a:t>
            </a:r>
          </a:p>
          <a:p>
            <a:r>
              <a:t>email and the full page URLs never cross it. Only hashes are compared and only</a:t>
            </a:r>
          </a:p>
          <a:p>
            <a:r>
              <a:t>hostnames are sent - because a URL carries your search terms and session ids, and</a:t>
            </a:r>
          </a:p>
          <a:p>
            <a:r>
              <a:t>this is supposed to be a privacy tool.</a:t>
            </a:r>
          </a:p>
          <a:p/>
          <a:p>
            <a:r>
              <a:t>Walk the diagram left to right with your hand, then turn back to the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[4:40-5:40]</a:t>
            </a:r>
          </a:p>
          <a:p>
            <a:r>
              <a:t>Seven high-level requirements on the left - what the system has to do. Seven</a:t>
            </a:r>
          </a:p>
          <a:p>
            <a:r>
              <a:t>matching implementation decisions on the right - how.</a:t>
            </a:r>
          </a:p>
          <a:p/>
          <a:p>
            <a:r>
              <a:t>I'll call out two. HR-4: distinguishing covert from intentional. If you type your</a:t>
            </a:r>
          </a:p>
          <a:p>
            <a:r>
              <a:t>email into a site's own search box, that's you choosing to. If that site quietly</a:t>
            </a:r>
          </a:p>
          <a:p>
            <a:r>
              <a:t>forwards the hash to Facebook, that's the thing worth alarming about. Early on I</a:t>
            </a:r>
          </a:p>
          <a:p>
            <a:r>
              <a:t>treated both the same, and everything looked like a breach.</a:t>
            </a:r>
          </a:p>
          <a:p/>
          <a:p>
            <a:r>
              <a:t>And the normalisation row. A tracker doesn't hash what you typed - it hashes what</a:t>
            </a:r>
          </a:p>
          <a:p>
            <a:r>
              <a:t>its own pipeline normalised first. I'll come back to that.</a:t>
            </a:r>
          </a:p>
          <a:p/>
          <a:p>
            <a:r>
              <a:t>In the plan each of these is traced through to how it gets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[5:40-6:25]</a:t>
            </a:r>
          </a:p>
          <a:p>
            <a:r>
              <a:t>Six goals, each measurable and dated, and together they cover every requirement.</a:t>
            </a:r>
          </a:p>
          <a:p/>
          <a:p>
            <a:r>
              <a:t>The one I'd point at is G4: zero false positives. Not "few". At the DNS layer a</a:t>
            </a:r>
          </a:p>
          <a:p>
            <a:r>
              <a:t>false positive doesn't inconvenience one browser - it takes a website off the air</a:t>
            </a:r>
          </a:p>
          <a:p>
            <a:r>
              <a:t>for everyone in the house. That's the number that has to be zero.</a:t>
            </a:r>
          </a:p>
          <a:p/>
          <a:p>
            <a:r>
              <a:t>G6 says "significant or not" deliberately. If sectors don't differ, I report that.</a:t>
            </a:r>
          </a:p>
          <a:p>
            <a:r>
              <a:t>I'm not designing this to confirm an answer I already like.</a:t>
            </a:r>
          </a:p>
          <a:p/>
          <a:p>
            <a:r>
              <a:t>Don't read all six. Name the count, then talk about G4 and G6.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[6:25-7:40]</a:t>
            </a:r>
          </a:p>
          <a:p>
            <a:r>
              <a:t>Methodology, and this is where I want to be concrete rather than quote a textbook.</a:t>
            </a:r>
          </a:p>
          <a:p/>
          <a:p>
            <a:r>
              <a:t>I build in vertical layers. Each one is a complete working system by itself, and</a:t>
            </a:r>
          </a:p>
          <a:p>
            <a:r>
              <a:t>later layers add capability without making earlier ones worthless.</a:t>
            </a:r>
          </a:p>
          <a:p/>
          <a:p>
            <a:r>
              <a:t>Why not waterfall: my riskiest unknowns are technical and they sit early. Waterfall</a:t>
            </a:r>
          </a:p>
          <a:p>
            <a:r>
              <a:t>would surface them in an integration phase with no time left to react.</a:t>
            </a:r>
          </a:p>
          <a:p/>
          <a:p>
            <a:r>
              <a:t>Why not formal Scrum: the ceremonies exist to coordinate a team. There's one of me.</a:t>
            </a:r>
          </a:p>
          <a:p>
            <a:r>
              <a:t>I kept short increments and working software; I dropped the meetings.</a:t>
            </a:r>
          </a:p>
          <a:p/>
          <a:p>
            <a:r>
              <a:t>And here's the evidence it was the right call. My DNS blocklist parser classified</a:t>
            </a:r>
          </a:p>
          <a:p>
            <a:r>
              <a:t>wikipedia.org and github.com as trackers - because filter rules that block a single</a:t>
            </a:r>
          </a:p>
          <a:p>
            <a:r>
              <a:t>path were being read as blocking the whole domain. At the DNS layer that takes</a:t>
            </a:r>
          </a:p>
          <a:p>
            <a:r>
              <a:t>Wikipedia off the air for every device in the house. I caught it because I tested</a:t>
            </a:r>
          </a:p>
          <a:p>
            <a:r>
              <a:t>that layer in isolation before connecting it to anything.</a:t>
            </a:r>
          </a:p>
          <a:p/>
          <a:p>
            <a:r>
              <a:t>This story is worth telling properly - it's the strongest thing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[7:40-8:25]</a:t>
            </a:r>
          </a:p>
          <a:p>
            <a:r>
              <a:t>Quickly on tools, because the plan justifies each one in detail.</a:t>
            </a:r>
          </a:p>
          <a:p/>
          <a:p>
            <a:r>
              <a:t>Two worth naming here. DuckDB, because my questions are aggregate ones - "which</a:t>
            </a:r>
          </a:p>
          <a:p>
            <a:r>
              <a:t>company receives the most requests" - and that's what a columnar database is for,</a:t>
            </a:r>
          </a:p>
          <a:p>
            <a:r>
              <a:t>in a single file with no server to administer.</a:t>
            </a:r>
          </a:p>
          <a:p/>
          <a:p>
            <a:r>
              <a:t>And dnslib rather than configuring dnsmasq, because I want the blocking logic to be</a:t>
            </a:r>
          </a:p>
          <a:p>
            <a:r>
              <a:t>code I can read and test, not settings buried in a config file.</a:t>
            </a:r>
          </a:p>
          <a:p/>
          <a:p>
            <a:r>
              <a:t>On standards: everything I classify comes from a public list. That means a marker</a:t>
            </a:r>
          </a:p>
          <a:p>
            <a:r>
              <a:t>can check any claim I make. That's deliberate.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[8:25-9:25]</a:t>
            </a:r>
          </a:p>
          <a:p>
            <a:r>
              <a:t>This is the slide I'd most like you to take away, because none of it is a plan -</a:t>
            </a:r>
          </a:p>
          <a:p>
            <a:r>
              <a:t>it's all been run.</a:t>
            </a:r>
          </a:p>
          <a:p/>
          <a:p>
            <a:r>
              <a:t>The MD5 I wrote is verified against twelve reference vectors, including the padding</a:t>
            </a:r>
          </a:p>
          <a:p>
            <a:r>
              <a:t>boundaries at 55, 56 and 57 bytes, which is where hand-written MD5 usually breaks.</a:t>
            </a:r>
          </a:p>
          <a:p/>
          <a:p>
            <a:r>
              <a:t>The normalisation line is my favourite. If you type your phone number as "0412 345</a:t>
            </a:r>
          </a:p>
          <a:p>
            <a:r>
              <a:t>678" and a tracker hashes "61412345678", the old version of my code matched nothing</a:t>
            </a:r>
          </a:p>
          <a:p>
            <a:r>
              <a:t>and reported no leak - silently. The fix hashes every plausible form. I have a test</a:t>
            </a:r>
          </a:p>
          <a:p>
            <a:r>
              <a:t>that proves the old one missed and the new one matches.</a:t>
            </a:r>
          </a:p>
          <a:p/>
          <a:p>
            <a:r>
              <a:t>And zero false positives on the DNS blocking, which is the G4 number.</a:t>
            </a:r>
          </a:p>
          <a:p/>
          <a:p>
            <a:r>
              <a:t>Say "none of this is a plan, it's all been run" and then pause.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[9:25-9:55]</a:t>
            </a:r>
          </a:p>
          <a:p>
            <a:r>
              <a:t>Briefly: weeks 9 and 10 are the full crawl, 11 is deployment and the false-positive</a:t>
            </a:r>
          </a:p>
          <a:p>
            <a:r>
              <a:t>testing, 12 and 13 are the dashboard and the analysis, 14 is the final presentation.</a:t>
            </a:r>
          </a:p>
          <a:p/>
          <a:p>
            <a:r>
              <a:t>On risk - the honest one is the third. If someone turns on Chrome's secure DNS,</a:t>
            </a:r>
          </a:p>
          <a:p>
            <a:r>
              <a:t>their queries go straight to Google and my sinkhole never sees them. I can't stop</a:t>
            </a:r>
          </a:p>
          <a:p>
            <a:r>
              <a:t>that. But the extension still observes those requests, which is precisely why the</a:t>
            </a:r>
          </a:p>
          <a:p>
            <a:r>
              <a:t>project is two deliverables and not one.</a:t>
            </a:r>
          </a:p>
          <a:p/>
          <a:p>
            <a:r>
              <a:t>Don't rush this slide just because it's near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[9:55-10:00]</a:t>
            </a:r>
          </a:p>
          <a:p>
            <a:r>
              <a:t>To close: a hash is not anonymous, and this project proves it on your own traffic</a:t>
            </a:r>
          </a:p>
          <a:p>
            <a:r>
              <a:t>rather than describing it. The extension shows you the problem; the Pi does</a:t>
            </a:r>
          </a:p>
          <a:p>
            <a:r>
              <a:t>something about it for every device you own.</a:t>
            </a:r>
          </a:p>
          <a:p/>
          <a:p>
            <a:r>
              <a:t>Happy to take questions.</a:t>
            </a:r>
          </a:p>
          <a:p/>
          <a:p>
            <a:r>
              <a:t>Likely questions and short answers:</a:t>
            </a:r>
          </a:p>
          <a:p>
            <a:r>
              <a:t>- "Why not just use Pi-hole?" Pi-hole blocks. It doesn't tell you who owns a</a:t>
            </a:r>
          </a:p>
          <a:p>
            <a:r>
              <a:t>  destination, which country it's in, or whether your identifier went with it.</a:t>
            </a:r>
          </a:p>
          <a:p>
            <a:r>
              <a:t>- "Is this legal?" Public pages only, my own traffic, my own identifier, no logins</a:t>
            </a:r>
          </a:p>
          <a:p>
            <a:r>
              <a:t>  and no attacks - the same basis as published academic measurement work.</a:t>
            </a:r>
          </a:p>
          <a:p>
            <a:r>
              <a:t>- "Why only 50 sites?" Because I verify every classification by hand. Fifty is a</a:t>
            </a:r>
          </a:p>
          <a:p>
            <a:r>
              <a:t>  number I can audit; five thousand is a number I could only assert.</a:t>
            </a:r>
          </a:p>
          <a:p>
            <a:r>
              <a:t>- "What if you find nothing?" I report that. It's a measurement, not an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Calibri"/>
              </a:rPr>
              <a:t>DataExodus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727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BDD6F5"/>
                </a:solidFill>
                <a:latin typeface="Calibri"/>
              </a:rPr>
              <a:t>Where does your data actually go?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3A5F"/>
                </a:solidFill>
                <a:latin typeface="Calibri"/>
              </a:rPr>
              <a:t>Early-Stage Presentation  ·  Project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6B6B72"/>
                </a:solidFill>
                <a:latin typeface="Calibri"/>
              </a:rPr>
              <a:t>Thanh Dat Phan  ·  [Student ID]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6B6B72"/>
                </a:solidFill>
                <a:latin typeface="Calibri"/>
              </a:rPr>
              <a:t>[Unit code and name]  ·  Week 8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6B6B72"/>
                </a:solidFill>
                <a:latin typeface="Calibri"/>
              </a:rPr>
              <a:t>github.com/thanhdat23102005/DataExo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987E5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3A5F"/>
                </a:solidFill>
                <a:latin typeface="Calibri"/>
              </a:rPr>
              <a:t>A hash is not anonymous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F3A5F"/>
                </a:solidFill>
                <a:latin typeface="Calibri"/>
              </a:rPr>
              <a:t>you@example.com   →   973dfe463ec857…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C0392B"/>
                </a:solidFill>
                <a:latin typeface="Calibri"/>
              </a:rPr>
              <a:t>Companies call this anonymised. It is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A2A30"/>
                </a:solidFill>
                <a:latin typeface="Calibri"/>
              </a:rPr>
              <a:t>The same email always produces the same hash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11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6B72"/>
                </a:solidFill>
                <a:latin typeface="Calibri"/>
              </a:rPr>
              <a:t>so that value is a stable name for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5876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A2A30"/>
                </a:solidFill>
                <a:latin typeface="Calibri"/>
              </a:rPr>
              <a:t>It follows you between unrelated websites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696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6B72"/>
                </a:solidFill>
                <a:latin typeface="Calibri"/>
              </a:rPr>
              <a:t>any site receiving the same hash recognises the same person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17136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A2A30"/>
                </a:solidFill>
                <a:latin typeface="Calibri"/>
              </a:rPr>
              <a:t>The raw address never crosses the wire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280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6B72"/>
                </a:solidFill>
                <a:latin typeface="Calibri"/>
              </a:rPr>
              <a:t>which is exactly why the practice looks safe and is not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6B72"/>
                </a:solidFill>
                <a:latin typeface="Calibri"/>
              </a:rPr>
              <a:t>US Federal Trade Commission, 2024: "Hashing is not anonymization"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987E5"/>
                </a:solidFill>
                <a:latin typeface="Calibri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3A5F"/>
                </a:solidFill>
                <a:latin typeface="Calibri"/>
              </a:rPr>
              <a:t>Why this matters in Australia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A2A30"/>
                </a:solidFill>
                <a:latin typeface="Calibri"/>
              </a:rPr>
              <a:t>APP 8 — Privacy Act 1988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396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6B72"/>
                </a:solidFill>
                <a:latin typeface="Calibri"/>
              </a:rPr>
              <a:t>organisations disclosing personal information overseas carry obligations; individuals cannot easily check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A2A30"/>
                </a:solidFill>
                <a:latin typeface="Calibri"/>
              </a:rPr>
              <a:t>ACCC Digital Platforms Inquiry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9981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6B72"/>
                </a:solidFill>
                <a:latin typeface="Calibri"/>
              </a:rPr>
              <a:t>found consumers have little practical visibility of who receives their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A2A30"/>
                </a:solidFill>
                <a:latin typeface="Calibri"/>
              </a:rPr>
              <a:t>Nobody can check their own exposure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5993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6B72"/>
                </a:solidFill>
                <a:latin typeface="Calibri"/>
              </a:rPr>
              <a:t>the tooling exists for researchers, not for the person whose data it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09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A2A30"/>
                </a:solidFill>
                <a:latin typeface="Calibri"/>
              </a:rPr>
              <a:t>Self-initiated individual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02005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6B72"/>
                </a:solidFill>
                <a:latin typeface="Calibri"/>
              </a:rPr>
              <a:t>no external client; assessor is the approving stakeholder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987E5"/>
                </a:solidFill>
                <a:latin typeface="Calibri"/>
              </a:rP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3A5F"/>
                </a:solidFill>
                <a:latin typeface="Calibri"/>
              </a:rPr>
              <a:t>Two things you can install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3987E5"/>
                </a:solidFill>
                <a:latin typeface="Calibri"/>
              </a:rPr>
              <a:t>1 · Chrome extension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2A2A30"/>
                </a:solidFill>
                <a:latin typeface="Calibri"/>
              </a:rPr>
              <a:t>Shows the problem on one machine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2A2A30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2A2A30"/>
                </a:solidFill>
                <a:latin typeface="Calibri"/>
              </a:rPr>
              <a:t>• names the company behind every request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2A2A30"/>
                </a:solidFill>
                <a:latin typeface="Calibri"/>
              </a:rPr>
              <a:t>• scores the page 0–100 for privacy risk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2A2A30"/>
                </a:solidFill>
                <a:latin typeface="Calibri"/>
              </a:rPr>
              <a:t>• hashes your identifier locally and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2A2A30"/>
                </a:solidFill>
                <a:latin typeface="Calibri"/>
              </a:rPr>
              <a:t>   watches for it leaving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8A7A"/>
                </a:solidFill>
                <a:latin typeface="Calibri"/>
              </a:rPr>
              <a:t>2 · Raspberry Pi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7744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2A2A30"/>
                </a:solidFill>
                <a:latin typeface="Calibri"/>
              </a:rPr>
              <a:t>Acts on it for the whole network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2A2A30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2A2A30"/>
                </a:solidFill>
                <a:latin typeface="Calibri"/>
              </a:rPr>
              <a:t>• adds owner and country attribution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2A2A30"/>
                </a:solidFill>
                <a:latin typeface="Calibri"/>
              </a:rPr>
              <a:t>• blocks tracker domains by DNS for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2A2A30"/>
                </a:solidFill>
                <a:latin typeface="Calibri"/>
              </a:rPr>
              <a:t>   every device, including phones and TVs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2A2A30"/>
                </a:solidFill>
                <a:latin typeface="Calibri"/>
              </a:rPr>
              <a:t>• keeps history the browser forgets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C97A16"/>
                </a:solidFill>
                <a:latin typeface="Calibri"/>
              </a:rPr>
              <a:t>The extension shows you the problem. The Pi does something about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987E5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3A5F"/>
                </a:solidFill>
                <a:latin typeface="Calibri"/>
              </a:rPr>
              <a:t>How the pieces fit</a:t>
            </a:r>
          </a:p>
        </p:txBody>
      </p:sp>
      <p:pic>
        <p:nvPicPr>
          <p:cNvPr id="5" name="Picture 4" descr="architecture_block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352" y="1325880"/>
            <a:ext cx="8102991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987E5"/>
                </a:solidFill>
                <a:latin typeface="Calibri"/>
              </a:rP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3A5F"/>
                </a:solidFill>
                <a:latin typeface="Calibri"/>
              </a:rPr>
              <a:t>What it has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3A5F"/>
                </a:solidFill>
                <a:latin typeface="Calibri"/>
              </a:rPr>
              <a:t>High-level — what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2A2A30"/>
                </a:solidFill>
                <a:latin typeface="Calibri"/>
              </a:rPr>
              <a:t>HR-1  Who receives the data, and who owns them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2A2A30"/>
                </a:solidFill>
                <a:latin typeface="Calibri"/>
              </a:rPr>
              <a:t>HR-2  Which country, and is it offshore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2A2A30"/>
                </a:solidFill>
                <a:latin typeface="Calibri"/>
              </a:rPr>
              <a:t>HR-3  Detect the identifier leaving as a hash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2A2A30"/>
                </a:solidFill>
                <a:latin typeface="Calibri"/>
              </a:rPr>
              <a:t>HR-4  Covert third-party vs intentional use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2A2A30"/>
                </a:solidFill>
                <a:latin typeface="Calibri"/>
              </a:rPr>
              <a:t>HR-5  Block for every device, not one browser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2A2A30"/>
                </a:solidFill>
                <a:latin typeface="Calibri"/>
              </a:rPr>
              <a:t>HR-6  Present it so a non-specialist can act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2A2A30"/>
                </a:solidFill>
                <a:latin typeface="Calibri"/>
              </a:rPr>
              <a:t>HR-7  Measure across 50 Australian sites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3A5F"/>
                </a:solidFill>
                <a:latin typeface="Calibri"/>
              </a:rPr>
              <a:t>Low-level — how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4884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2A2A30"/>
                </a:solidFill>
                <a:latin typeface="Calibri"/>
              </a:rPr>
              <a:t>Manifest V3 service worker observes requests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2A2A30"/>
                </a:solidFill>
                <a:latin typeface="Calibri"/>
              </a:rPr>
              <a:t>WebCrypto + local MD5, four algorithms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2A2A30"/>
                </a:solidFill>
                <a:latin typeface="Calibri"/>
              </a:rPr>
              <a:t>Every normalisation: digits, +61, Gmail dots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2A2A30"/>
                </a:solidFill>
                <a:latin typeface="Calibri"/>
              </a:rPr>
              <a:t>Hostnames only — never URLs, never raw values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2A2A30"/>
                </a:solidFill>
                <a:latin typeface="Calibri"/>
              </a:rPr>
              <a:t>GeoLite2 lookup on the Pi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2A2A30"/>
                </a:solidFill>
                <a:latin typeface="Calibri"/>
              </a:rPr>
              <a:t>dnslib UDP server, upstream 1.1.1.1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2A2A30"/>
                </a:solidFill>
                <a:latin typeface="Calibri"/>
              </a:rPr>
              <a:t>Playwright crawler over a frozen site list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987E5"/>
                </a:solidFill>
                <a:latin typeface="Calibri"/>
              </a:rPr>
              <a:t>SMART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3A5F"/>
                </a:solidFill>
                <a:latin typeface="Calibri"/>
              </a:rPr>
              <a:t>Goals I can be held 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A2A30"/>
                </a:solidFill>
                <a:latin typeface="Calibri"/>
              </a:rPr>
              <a:t>G1 · Attribute owner and country for ≥ 90% of destinations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0253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6B72"/>
                </a:solidFill>
                <a:latin typeface="Calibri"/>
              </a:rPr>
              <a:t>by week 10, verified by manual spot-check against Tracker Radar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5059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A2A30"/>
                </a:solidFill>
                <a:latin typeface="Calibri"/>
              </a:rPr>
              <a:t>G2 · Match a hashed identifier across 4 algorithms and 4 forms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614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6B72"/>
                </a:solidFill>
                <a:latin typeface="Calibri"/>
              </a:rPr>
              <a:t>by week 10, evidenced by a reproducible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9544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A2A30"/>
                </a:solidFill>
                <a:latin typeface="Calibri"/>
              </a:rPr>
              <a:t>G3 · Zero misclassification of covert vs intentional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20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6B72"/>
                </a:solidFill>
                <a:latin typeface="Calibri"/>
              </a:rPr>
              <a:t>by week 11, across the manual test 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68496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A2A30"/>
                </a:solidFill>
                <a:latin typeface="Calibri"/>
              </a:rPr>
              <a:t>G4 · Block ≥ 75,000 domains with zero false positives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793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6B72"/>
                </a:solidFill>
                <a:latin typeface="Calibri"/>
              </a:rPr>
              <a:t>by week 11, across twelve named Australian and global sites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2744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A2A30"/>
                </a:solidFill>
                <a:latin typeface="Calibri"/>
              </a:rPr>
              <a:t>G5 · A non-specialist can read the result unaided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3834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6B72"/>
                </a:solidFill>
                <a:latin typeface="Calibri"/>
              </a:rPr>
              <a:t>by week 12, validated by a think-aloud walk-through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486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A2A30"/>
                </a:solidFill>
                <a:latin typeface="Calibri"/>
              </a:rPr>
              <a:t>G6 · Report H1–H4 with stated statistical methods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797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6B72"/>
                </a:solidFill>
                <a:latin typeface="Calibri"/>
              </a:rPr>
              <a:t>by week 13, significant or not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987E5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3A5F"/>
                </a:solidFill>
                <a:latin typeface="Calibri"/>
              </a:rPr>
              <a:t>Incremental layers, and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F3A5F"/>
                </a:solidFill>
                <a:latin typeface="Calibri"/>
              </a:rPr>
              <a:t>Each layer is a complete working system on its 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987E5"/>
                </a:solidFill>
                <a:latin typeface="Calibri"/>
              </a:rPr>
              <a:t>L1  Extension alone   →   L2  + Pi collector   →   L3  + network-wide DNS blocking   →   L4  + 50-site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A2A30"/>
                </a:solidFill>
                <a:latin typeface="Calibri"/>
              </a:rPr>
              <a:t>Not waterfall — the riskiest unknowns are technical and early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7705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6B72"/>
                </a:solidFill>
                <a:latin typeface="Calibri"/>
              </a:rPr>
              <a:t>whether Manifest V3 allows the observation; whether a blocklist breaks real sites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348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A2A30"/>
                </a:solidFill>
                <a:latin typeface="Calibri"/>
              </a:rPr>
              <a:t>Not formal Scrum — ceremonies coordinate a team; there is one student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4573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6B72"/>
                </a:solidFill>
                <a:latin typeface="Calibri"/>
              </a:rPr>
              <a:t>short increments and working software kept; meeting structure dropped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03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A2A30"/>
                </a:solidFill>
                <a:latin typeface="Calibri"/>
              </a:rPr>
              <a:t>It already paid for itself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61441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6B72"/>
                </a:solidFill>
                <a:latin typeface="Calibri"/>
              </a:rPr>
              <a:t>wikipedia.org and github.com were classified as trackers — caught before that layer ever reached the network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987E5"/>
                </a:solidFill>
                <a:latin typeface="Calibri"/>
              </a:rPr>
              <a:t>TOOLS &amp;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3A5F"/>
                </a:solidFill>
                <a:latin typeface="Calibri"/>
              </a:rPr>
              <a:t>Tools chosen for a reason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5212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600" b="0">
                <a:solidFill>
                  <a:srgbClr val="2A2A30"/>
                </a:solidFill>
                <a:latin typeface="Calibri"/>
              </a:rPr>
              <a:t>Manifest V3 — the only platform Chrome accepts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2A2A30"/>
                </a:solidFill>
                <a:latin typeface="Calibri"/>
              </a:rPr>
              <a:t>Python + FastAPI — runs comfortably on a Pi 5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2A2A30"/>
                </a:solidFill>
                <a:latin typeface="Calibri"/>
              </a:rPr>
              <a:t>DuckDB — analytical queries, single file, no server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2A2A30"/>
                </a:solidFill>
                <a:latin typeface="Calibri"/>
              </a:rPr>
              <a:t>dnslib — blocking logic stays readable and testable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2A2A30"/>
                </a:solidFill>
                <a:latin typeface="Calibri"/>
              </a:rPr>
              <a:t>Playwright — a real browser, so real trackers fire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2A2A30"/>
                </a:solidFill>
                <a:latin typeface="Calibri"/>
              </a:rPr>
              <a:t>GeoLite2 — free, offline, widely cited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3A5F"/>
                </a:solidFill>
                <a:latin typeface="Calibri"/>
              </a:rPr>
              <a:t>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4884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A2A30"/>
                </a:solidFill>
                <a:latin typeface="Calibri"/>
              </a:rPr>
              <a:t>Privacy Act 1988 — APP 8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2A2A30"/>
                </a:solidFill>
                <a:latin typeface="Calibri"/>
              </a:rPr>
              <a:t>Manifest V3; least-privilege permissions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2A2A30"/>
                </a:solidFill>
                <a:latin typeface="Calibri"/>
              </a:rPr>
              <a:t>Privacy by design — hashing stays client-side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2A2A30"/>
                </a:solidFill>
                <a:latin typeface="Calibri"/>
              </a:rPr>
              <a:t>PEP 8, type annotations, semantic versioning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2A2A30"/>
                </a:solidFill>
                <a:latin typeface="Calibri"/>
              </a:rPr>
              <a:t>Passive-observation research ethics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2A2A30"/>
                </a:solidFill>
                <a:latin typeface="Calibri"/>
              </a:rPr>
              <a:t>   public pages, own traffic, no logins, no evasion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5321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7A16"/>
                </a:solidFill>
                <a:latin typeface="Calibri"/>
              </a:rPr>
              <a:t>Every data source is public — EasyPrivacy, Tracker Radar, GeoLite2 — so any classification I report can be independently audited.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987E5"/>
                </a:solidFill>
                <a:latin typeface="Calibri"/>
              </a:rPr>
              <a:t>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3A5F"/>
                </a:solidFill>
                <a:latin typeface="Calibri"/>
              </a:rPr>
              <a:t>Already built and tested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A2A30"/>
                </a:solidFill>
                <a:latin typeface="Calibri"/>
              </a:rPr>
              <a:t>Extension v3.3 — capture, risk scoring, local hashing, malware blocking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5681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6B72"/>
                </a:solidFill>
                <a:latin typeface="Calibri"/>
              </a:rPr>
              <a:t>Manifest V3, running in Chrome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9572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A2A30"/>
                </a:solidFill>
                <a:latin typeface="Calibri"/>
              </a:rPr>
              <a:t>MD5 implementation verified against 12 test vectors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0662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6B72"/>
                </a:solidFill>
                <a:latin typeface="Calibri"/>
              </a:rPr>
              <a:t>including UTF-8 input and the 55/56/57/64-byte padding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45536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A2A30"/>
                </a:solidFill>
                <a:latin typeface="Calibri"/>
              </a:rPr>
              <a:t>Identifier normalisation fixed a real miss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564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6B72"/>
                </a:solidFill>
                <a:latin typeface="Calibri"/>
              </a:rPr>
              <a:t>typed as "0412 345 678", matched when a tracker hashes "61412345678" — the old single-form version matched nothing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95344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A2A30"/>
                </a:solidFill>
                <a:latin typeface="Calibri"/>
              </a:rPr>
              <a:t>DNS sinkhole: zero false positives across twelve sites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06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6B72"/>
                </a:solidFill>
                <a:latin typeface="Calibri"/>
              </a:rPr>
              <a:t>blocked domains answer 0.0.0.0 and :: ; everything else forwarded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4515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A2A30"/>
                </a:solidFill>
                <a:latin typeface="Calibri"/>
              </a:rPr>
              <a:t>Telemetry is idempotent — a retried delivery double-counts nothing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560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6B72"/>
                </a:solidFill>
                <a:latin typeface="Calibri"/>
              </a:rPr>
              <a:t>tested by replaying the same payload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94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A2A30"/>
                </a:solidFill>
                <a:latin typeface="Calibri"/>
              </a:rPr>
              <a:t>Study pipeline: 10 government sites crawled, 543 requests classified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70585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6B72"/>
                </a:solidFill>
                <a:latin typeface="Calibri"/>
              </a:rPr>
              <a:t>remaining 40 sites scheduled for weeks 9–10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987E5"/>
                </a:solidFill>
                <a:latin typeface="Calibri"/>
              </a:rPr>
              <a:t>TIMELINE &amp;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3A5F"/>
                </a:solidFill>
                <a:latin typeface="Calibri"/>
              </a:rPr>
              <a:t>What is left, and what could go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F3A5F"/>
                </a:solidFill>
                <a:latin typeface="Calibri"/>
              </a:rPr>
              <a:t>Remaining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5212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2A2A30"/>
                </a:solidFill>
                <a:latin typeface="Calibri"/>
              </a:rPr>
              <a:t>W9–10   Full 50-site crawl (G1, G2)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2A2A30"/>
                </a:solidFill>
                <a:latin typeface="Calibri"/>
              </a:rPr>
              <a:t>W11       Network deployment, false-positive testing (G3, G4)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2A2A30"/>
                </a:solidFill>
                <a:latin typeface="Calibri"/>
              </a:rPr>
              <a:t>W12       Dashboard and usability walk-through (G5)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2A2A30"/>
                </a:solidFill>
                <a:latin typeface="Calibri"/>
              </a:rPr>
              <a:t>W13       Hypothesis testing and report (G6)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2A2A30"/>
                </a:solidFill>
                <a:latin typeface="Calibri"/>
              </a:rPr>
              <a:t>W14       Final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F3A5F"/>
                </a:solidFill>
                <a:latin typeface="Calibri"/>
              </a:rPr>
              <a:t>Top 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2A2A30"/>
                </a:solidFill>
                <a:latin typeface="Calibri"/>
              </a:rPr>
              <a:t>A false positive takes a site off the air for the house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2A2A30"/>
                </a:solidFill>
                <a:latin typeface="Calibri"/>
              </a:rPr>
              <a:t>   → separate lists for blocking and labelling; allow-test first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2A2A30"/>
                </a:solidFill>
                <a:latin typeface="Calibri"/>
              </a:rPr>
              <a:t>The Pi becomes a single point of DNS failure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2A2A30"/>
                </a:solidFill>
                <a:latin typeface="Calibri"/>
              </a:rPr>
              <a:t>   → documented rollback; blank secondary is a stated trade-off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2A2A30"/>
                </a:solidFill>
                <a:latin typeface="Calibri"/>
              </a:rPr>
              <a:t>Chrome DNS-over-HTTPS bypasses the sinkhole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2A2A30"/>
                </a:solidFill>
                <a:latin typeface="Calibri"/>
              </a:rPr>
              <a:t>   → stated limitation; the extension still sees these requests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Calibri"/>
              </a:rPr>
              <a:t>A hash is not anonymous.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BDD6F5"/>
                </a:solidFill>
                <a:latin typeface="Calibri"/>
              </a:rPr>
              <a:t>This project proves it on your own traffic — then blocks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90000"/>
              </a:lnSpc>
            </a:pPr>
            <a:r>
              <a:rPr sz="2000" b="0">
                <a:solidFill>
                  <a:srgbClr val="2A2A30"/>
                </a:solidFill>
                <a:latin typeface="Calibri"/>
              </a:rPr>
              <a:t>Extension — shows the problem on one machine</a:t>
            </a:r>
          </a:p>
          <a:p>
            <a:pPr algn="l">
              <a:lnSpc>
                <a:spcPct val="190000"/>
              </a:lnSpc>
            </a:pPr>
            <a:r>
              <a:rPr sz="2000" b="0">
                <a:solidFill>
                  <a:srgbClr val="2A2A30"/>
                </a:solidFill>
                <a:latin typeface="Calibri"/>
              </a:rPr>
              <a:t>Raspberry Pi — acts on it for every device on the network</a:t>
            </a:r>
          </a:p>
          <a:p>
            <a:pPr algn="l">
              <a:lnSpc>
                <a:spcPct val="190000"/>
              </a:lnSpc>
            </a:pPr>
            <a:r>
              <a:rPr sz="2000" b="0">
                <a:solidFill>
                  <a:srgbClr val="2A2A30"/>
                </a:solidFill>
                <a:latin typeface="Calibri"/>
              </a:rPr>
              <a:t>Everything classified from public, auditable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94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F3A5F"/>
                </a:solidFill>
                <a:latin typeface="Calibri"/>
              </a:rPr>
              <a:t>Questions?</a:t>
            </a:r>
          </a:p>
          <a:p>
            <a:pPr algn="l">
              <a:lnSpc>
                <a:spcPct val="135000"/>
              </a:lnSpc>
            </a:pPr>
            <a:r>
              <a:rPr sz="2000" b="1">
                <a:solidFill>
                  <a:srgbClr val="1F3A5F"/>
                </a:solidFill>
                <a:latin typeface="Calibri"/>
              </a:rPr>
              <a:t>github.com/thanhdat23102005/DataExo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